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" y="950677"/>
            <a:ext cx="7315200" cy="3242146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914400" y="950677"/>
            <a:ext cx="57150" cy="324214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2"/>
          <p:cNvSpPr/>
          <p:nvPr/>
        </p:nvSpPr>
        <p:spPr>
          <a:xfrm>
            <a:off x="1343025" y="1379302"/>
            <a:ext cx="6457950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DS6410 Lab: Graphical Models &amp; Causal Inference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1343025" y="2619412"/>
            <a:ext cx="6457950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4AF37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Estimating Graphs, Learning Structure, and Applying Do-Calculus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343025" y="3530240"/>
            <a:ext cx="6457950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Machine Learning II • Live Demo Session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00125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57263"/>
            <a:ext cx="9144000" cy="42863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99145"/>
            <a:ext cx="2071688" cy="401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Lab Overview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257175" y="1257300"/>
            <a:ext cx="2686050" cy="362902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Shape 4"/>
          <p:cNvSpPr/>
          <p:nvPr/>
        </p:nvSpPr>
        <p:spPr>
          <a:xfrm>
            <a:off x="257175" y="1257300"/>
            <a:ext cx="2686050" cy="28575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8" name="Text 5"/>
          <p:cNvSpPr/>
          <p:nvPr/>
        </p:nvSpPr>
        <p:spPr>
          <a:xfrm>
            <a:off x="471488" y="1543050"/>
            <a:ext cx="22574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2" kern="0" dirty="0">
                <a:solidFill>
                  <a:srgbClr val="D4AF37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PART 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1488" y="1857375"/>
            <a:ext cx="2257425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0A224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Undirected Graphical Models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71488" y="2577443"/>
            <a:ext cx="2257425" cy="1528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Estimating sparse Gaussian Graphical Models (GGMs) from continuous data to discover conditional independencies.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1488" y="4277320"/>
            <a:ext cx="1014413" cy="323255"/>
          </a:xfrm>
          <a:prstGeom prst="rect">
            <a:avLst/>
          </a:prstGeom>
          <a:solidFill>
            <a:srgbClr val="EAECEE"/>
          </a:solidFill>
          <a:ln w="9144">
            <a:solidFill>
              <a:srgbClr val="BDC3C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1488" y="4277320"/>
            <a:ext cx="1014413" cy="323255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R: glasso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28975" y="1257300"/>
            <a:ext cx="2686050" cy="362902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4" name="Shape 11"/>
          <p:cNvSpPr/>
          <p:nvPr/>
        </p:nvSpPr>
        <p:spPr>
          <a:xfrm>
            <a:off x="3228975" y="1257300"/>
            <a:ext cx="2686050" cy="28575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5" name="Text 12"/>
          <p:cNvSpPr/>
          <p:nvPr/>
        </p:nvSpPr>
        <p:spPr>
          <a:xfrm>
            <a:off x="3443288" y="1543050"/>
            <a:ext cx="22574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2" kern="0" dirty="0">
                <a:solidFill>
                  <a:srgbClr val="D4AF37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PART 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443288" y="1857375"/>
            <a:ext cx="2257425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0A224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Directed Graphical Models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443288" y="2577443"/>
            <a:ext cx="2257425" cy="1528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Learning the structure of Directed Acyclic Graphs (DAGs) from purely observational data using conditional independence tests.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443288" y="4277320"/>
            <a:ext cx="928688" cy="323255"/>
          </a:xfrm>
          <a:prstGeom prst="rect">
            <a:avLst/>
          </a:prstGeom>
          <a:solidFill>
            <a:srgbClr val="EAECEE"/>
          </a:solidFill>
          <a:ln w="9144">
            <a:solidFill>
              <a:srgbClr val="BDC3C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43288" y="4277320"/>
            <a:ext cx="928688" cy="323255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R: pcalg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200775" y="1257300"/>
            <a:ext cx="2686050" cy="362902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1" name="Shape 18"/>
          <p:cNvSpPr/>
          <p:nvPr/>
        </p:nvSpPr>
        <p:spPr>
          <a:xfrm>
            <a:off x="6200775" y="1257300"/>
            <a:ext cx="2686050" cy="28575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22" name="Text 19"/>
          <p:cNvSpPr/>
          <p:nvPr/>
        </p:nvSpPr>
        <p:spPr>
          <a:xfrm>
            <a:off x="6415088" y="1543050"/>
            <a:ext cx="22574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2" kern="0" dirty="0">
                <a:solidFill>
                  <a:srgbClr val="D4AF37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PART 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415088" y="1857375"/>
            <a:ext cx="2257425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0A224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Causal Inference &amp; Do-Calculus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415088" y="2577443"/>
            <a:ext cx="2257425" cy="1528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Applying Pearl's do-calculus to identify causal effects via the backdoor and frontdoor criteria.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415088" y="4277320"/>
            <a:ext cx="1100138" cy="323255"/>
          </a:xfrm>
          <a:prstGeom prst="rect">
            <a:avLst/>
          </a:prstGeom>
          <a:solidFill>
            <a:srgbClr val="EAECEE"/>
          </a:solidFill>
          <a:ln w="9144">
            <a:solidFill>
              <a:srgbClr val="BDC3C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15088" y="4277320"/>
            <a:ext cx="1100138" cy="323255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R: dagitty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00125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57263"/>
            <a:ext cx="9144000" cy="42863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99145"/>
            <a:ext cx="5581055" cy="401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Part 1: Undirected Graphical Models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285750" y="1085850"/>
            <a:ext cx="4143375" cy="325041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224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Gaussian Graphical Models (GGMs)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85750" y="1468041"/>
            <a:ext cx="4143375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 a GGM, conditional independencies are encoded </a:t>
            </a: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 the </a:t>
            </a:r>
            <a:r>
              <a:rPr lang="en-US" sz="1200" b="1" dirty="0">
                <a:solidFill>
                  <a:srgbClr val="2C3E50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precision matrix</a:t>
            </a: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(Θ = Σ⁻¹).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285750" y="2102383"/>
            <a:ext cx="4143375" cy="548618"/>
          </a:xfrm>
          <a:prstGeom prst="rect">
            <a:avLst/>
          </a:prstGeom>
          <a:noFill/>
          <a:ln/>
        </p:spPr>
        <p:txBody>
          <a:bodyPr wrap="square" lIns="238125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If Θ_{ij} = 0, variables X_i and X_j are conditionally independent given the others.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85750" y="2879601"/>
            <a:ext cx="4143375" cy="325041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224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The Graphical Lasso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85750" y="3261792"/>
            <a:ext cx="4143375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Estimate a sparse graph by maximizing the penalized log-likelihood: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85750" y="3896134"/>
            <a:ext cx="4143375" cy="75190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2" name="Shape 9"/>
          <p:cNvSpPr/>
          <p:nvPr/>
        </p:nvSpPr>
        <p:spPr>
          <a:xfrm>
            <a:off x="285750" y="3896134"/>
            <a:ext cx="28575" cy="751908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13" name="Text 10"/>
          <p:cNvSpPr/>
          <p:nvPr/>
        </p:nvSpPr>
        <p:spPr>
          <a:xfrm>
            <a:off x="285750" y="2102383"/>
            <a:ext cx="7768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D4AF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294777" y="4187996"/>
            <a:ext cx="281118" cy="803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max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284061" y="4294063"/>
            <a:ext cx="83716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Θ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400008" y="4292278"/>
            <a:ext cx="96441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≻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528679" y="4292278"/>
            <a:ext cx="57959" cy="803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0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631761" y="4154119"/>
            <a:ext cx="5435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(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686120" y="4152277"/>
            <a:ext cx="20864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log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939891" y="4152277"/>
            <a:ext cx="19949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det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184509" y="4157635"/>
            <a:ext cx="11792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Θ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338546" y="4207641"/>
            <a:ext cx="92087" cy="89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−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2466742" y="4173708"/>
            <a:ext cx="99761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tr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566504" y="4152277"/>
            <a:ext cx="5438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(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2620891" y="4157635"/>
            <a:ext cx="8215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2703044" y="4157635"/>
            <a:ext cx="11792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Θ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2820972" y="4152277"/>
            <a:ext cx="5438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)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2911469" y="4207641"/>
            <a:ext cx="92087" cy="89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−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039666" y="4189781"/>
            <a:ext cx="8215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ρ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121819" y="4152277"/>
            <a:ext cx="4584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‖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3167667" y="4157635"/>
            <a:ext cx="11792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Θ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3285595" y="4152277"/>
            <a:ext cx="4584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‖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3331443" y="4227230"/>
            <a:ext cx="57959" cy="767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1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3421549" y="4154119"/>
            <a:ext cx="5435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)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4714875" y="1085850"/>
            <a:ext cx="4143375" cy="325041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224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 Implementation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4714875" y="1468041"/>
            <a:ext cx="4143375" cy="13716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7" name="Text 34"/>
          <p:cNvSpPr/>
          <p:nvPr/>
        </p:nvSpPr>
        <p:spPr>
          <a:xfrm>
            <a:off x="4714875" y="1468041"/>
            <a:ext cx="4143375" cy="13716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A995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 Load package and compute S</a:t>
            </a:r>
            <a:r>
              <a:rPr lang="en-US" sz="10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library</a:t>
            </a:r>
            <a:r>
              <a:rPr lang="en-US" sz="10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</a:t>
            </a:r>
            <a:r>
              <a:rPr lang="en-US" sz="1050" dirty="0">
                <a:solidFill>
                  <a:srgbClr val="CE917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"glasso"</a:t>
            </a:r>
            <a:r>
              <a:rPr lang="en-US" sz="10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 </a:t>
            </a:r>
            <a:r>
              <a:rPr lang="en-US" sz="1050" dirty="0">
                <a:solidFill>
                  <a:srgbClr val="6A995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 Sample covariance</a:t>
            </a:r>
            <a:r>
              <a:rPr lang="en-US" sz="10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S &lt;- </a:t>
            </a:r>
            <a:r>
              <a:rPr lang="en-US" sz="1050" dirty="0">
                <a:solidFill>
                  <a:srgbClr val="DCDCA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cov</a:t>
            </a:r>
            <a:r>
              <a:rPr lang="en-US" sz="10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(X) </a:t>
            </a:r>
            <a:r>
              <a:rPr lang="en-US" sz="1050" dirty="0">
                <a:solidFill>
                  <a:srgbClr val="6A995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 Penalty</a:t>
            </a:r>
            <a:r>
              <a:rPr lang="en-US" sz="10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rho_val &lt;- </a:t>
            </a:r>
            <a:r>
              <a:rPr lang="en-US" sz="1050" dirty="0">
                <a:solidFill>
                  <a:srgbClr val="B5CEA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0.1</a:t>
            </a:r>
            <a:r>
              <a:rPr lang="en-US" sz="10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1050" dirty="0">
                <a:solidFill>
                  <a:srgbClr val="6A995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 Fit graphical lasso</a:t>
            </a:r>
            <a:r>
              <a:rPr lang="en-US" sz="10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gl_res &lt;- </a:t>
            </a:r>
            <a:r>
              <a:rPr lang="en-US" sz="1050" dirty="0">
                <a:solidFill>
                  <a:srgbClr val="DCDCA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glasso</a:t>
            </a:r>
            <a:r>
              <a:rPr lang="en-US" sz="10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(s = S, rho = rho_val) </a:t>
            </a:r>
            <a:r>
              <a:rPr lang="en-US" sz="1050" dirty="0">
                <a:solidFill>
                  <a:srgbClr val="6A995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 Estimated </a:t>
            </a:r>
            <a:r>
              <a:rPr lang="en-US" sz="1050" dirty="0">
                <a:solidFill>
                  <a:srgbClr val="6A995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precision</a:t>
            </a:r>
            <a:r>
              <a:rPr lang="en-US" sz="10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est_precision &lt;- gl_res$wi </a:t>
            </a:r>
            <a:r>
              <a:rPr lang="en-US" sz="1050" dirty="0">
                <a:solidFill>
                  <a:srgbClr val="6A995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 View</a:t>
            </a:r>
            <a:r>
              <a:rPr lang="en-US" sz="10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1050" dirty="0">
                <a:solidFill>
                  <a:srgbClr val="DCDCA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round</a:t>
            </a:r>
            <a:r>
              <a:rPr lang="en-US" sz="10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(est_precision, </a:t>
            </a:r>
            <a:r>
              <a:rPr lang="en-US" sz="1050" dirty="0">
                <a:solidFill>
                  <a:srgbClr val="B5CEA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2</a:t>
            </a:r>
            <a:r>
              <a:rPr lang="en-US" sz="10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634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00125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57263"/>
            <a:ext cx="9144000" cy="42863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99145"/>
            <a:ext cx="3927277" cy="401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Graphical Lasso in Action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421481" y="1071563"/>
            <a:ext cx="5014913" cy="2264569"/>
          </a:xfrm>
          <a:prstGeom prst="rect">
            <a:avLst/>
          </a:prstGeom>
          <a:solidFill>
            <a:srgbClr val="F9FBFD"/>
          </a:solidFill>
          <a:ln w="9144">
            <a:solidFill>
              <a:srgbClr val="EAECE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3" y="1143000"/>
            <a:ext cx="4857750" cy="2078831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28625" y="3436144"/>
            <a:ext cx="5000625" cy="950119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9" name="Shape 5"/>
          <p:cNvSpPr/>
          <p:nvPr/>
        </p:nvSpPr>
        <p:spPr>
          <a:xfrm>
            <a:off x="428625" y="3436144"/>
            <a:ext cx="28575" cy="950119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0" name="Text 6"/>
          <p:cNvSpPr/>
          <p:nvPr/>
        </p:nvSpPr>
        <p:spPr>
          <a:xfrm>
            <a:off x="514350" y="3521869"/>
            <a:ext cx="4829175" cy="778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A2240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The Graphical Lasso successfully recovers the true conditional independence structure (the "skeleton" of the graph) from the sample covariance matrix, even when the sample size is relatively small.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00075" y="4471988"/>
            <a:ext cx="4829175" cy="2514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b="1" dirty="0">
                <a:solidFill>
                  <a:srgbClr val="2C3E50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High ρ:</a:t>
            </a: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Fewer edges (more false negatives).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00075" y="4723442"/>
            <a:ext cx="4829175" cy="2514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b="1" dirty="0">
                <a:solidFill>
                  <a:srgbClr val="2C3E50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Low ρ:</a:t>
            </a: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More edges (more false positives).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715000" y="1071563"/>
            <a:ext cx="3000375" cy="305395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24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The Role of Penalty (ρ)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707856" y="1462683"/>
            <a:ext cx="3014663" cy="1971675"/>
          </a:xfrm>
          <a:prstGeom prst="rect">
            <a:avLst/>
          </a:prstGeom>
          <a:solidFill>
            <a:srgbClr val="F9FBFD"/>
          </a:solidFill>
          <a:ln w="9144">
            <a:solidFill>
              <a:srgbClr val="EAECEE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6438" y="1534120"/>
            <a:ext cx="2857500" cy="178593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715000" y="3534370"/>
            <a:ext cx="3000375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(L_1) penalty parameter (ρ or α) directly controls the sparsity of the estimated precision matrix.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00125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57263"/>
            <a:ext cx="9144000" cy="42863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99145"/>
            <a:ext cx="5191720" cy="401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Part 2: Directed Graphical Models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285750" y="1143000"/>
            <a:ext cx="5014913" cy="339328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224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Structure Learning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85750" y="1568053"/>
            <a:ext cx="5014913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Before applying do-calculus, we often learn the DAG structure from observational data.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285750" y="2259546"/>
            <a:ext cx="5014913" cy="339328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224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The PC Algorithm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5750" y="2684599"/>
            <a:ext cx="5014913" cy="548618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Constraint-Based:</a:t>
            </a: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Uses tests for conditional independence to remove edges.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85750" y="3290367"/>
            <a:ext cx="5014913" cy="548618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Orientation:</a:t>
            </a: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Finds colliders and orients edges, then applies rules to avoid cycles.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85750" y="2684599"/>
            <a:ext cx="8628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D4AF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85750" y="3290367"/>
            <a:ext cx="8628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D4AF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514975" y="1143000"/>
            <a:ext cx="3343275" cy="339328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224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 Implementation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514975" y="1568053"/>
            <a:ext cx="3343275" cy="2314575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5" name="Text 12"/>
          <p:cNvSpPr/>
          <p:nvPr/>
        </p:nvSpPr>
        <p:spPr>
          <a:xfrm>
            <a:off x="5514975" y="1568053"/>
            <a:ext cx="3343275" cy="231457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A995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 Load the pcalg package</a:t>
            </a:r>
            <a:r>
              <a:rPr lang="en-US" sz="10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library</a:t>
            </a:r>
            <a:r>
              <a:rPr lang="en-US" sz="10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</a:t>
            </a:r>
            <a:r>
              <a:rPr lang="en-US" sz="1050" dirty="0">
                <a:solidFill>
                  <a:srgbClr val="CE917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"pcalg"</a:t>
            </a:r>
            <a:r>
              <a:rPr lang="en-US" sz="10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 </a:t>
            </a:r>
            <a:r>
              <a:rPr lang="en-US" sz="1050" dirty="0">
                <a:solidFill>
                  <a:srgbClr val="6A995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 Define sufficient </a:t>
            </a:r>
            <a:r>
              <a:rPr lang="en-US" sz="1050" dirty="0">
                <a:solidFill>
                  <a:srgbClr val="6A995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statistics</a:t>
            </a:r>
            <a:r>
              <a:rPr lang="en-US" sz="10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suffStat &lt;- </a:t>
            </a:r>
            <a:r>
              <a:rPr lang="en-US" sz="1050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list</a:t>
            </a:r>
            <a:r>
              <a:rPr lang="en-US" sz="10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(C = </a:t>
            </a:r>
            <a:r>
              <a:rPr lang="en-US" sz="1050" dirty="0">
                <a:solidFill>
                  <a:srgbClr val="DCDCA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cor</a:t>
            </a:r>
            <a:r>
              <a:rPr lang="en-US" sz="10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(df_dag), n = n_samples) </a:t>
            </a:r>
            <a:r>
              <a:rPr lang="en-US" sz="1050" dirty="0">
                <a:solidFill>
                  <a:srgbClr val="6A995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 Run the </a:t>
            </a:r>
            <a:r>
              <a:rPr lang="en-US" sz="1050" dirty="0">
                <a:solidFill>
                  <a:srgbClr val="6A995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PC algorithm</a:t>
            </a:r>
            <a:r>
              <a:rPr lang="en-US" sz="10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pc_fit &lt;- </a:t>
            </a:r>
            <a:r>
              <a:rPr lang="en-US" sz="1050" dirty="0">
                <a:solidFill>
                  <a:srgbClr val="DCDCA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pc</a:t>
            </a:r>
            <a:r>
              <a:rPr lang="en-US" sz="10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(suffStat, </a:t>
            </a:r>
            <a:r>
              <a:rPr lang="en-US" sz="10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indepTest = gaussCItest, alpha = </a:t>
            </a:r>
            <a:r>
              <a:rPr lang="en-US" sz="1050" dirty="0">
                <a:solidFill>
                  <a:srgbClr val="B5CEA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0.01</a:t>
            </a:r>
            <a:r>
              <a:rPr lang="en-US" sz="10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, labels = </a:t>
            </a:r>
            <a:r>
              <a:rPr lang="en-US" sz="1050" dirty="0">
                <a:solidFill>
                  <a:srgbClr val="DCDCA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colnames</a:t>
            </a:r>
            <a:r>
              <a:rPr lang="en-US" sz="10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(df_dag), </a:t>
            </a:r>
            <a:r>
              <a:rPr lang="en-US" sz="10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verbose = </a:t>
            </a:r>
            <a:r>
              <a:rPr lang="en-US" sz="1050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FALSE</a:t>
            </a:r>
            <a:r>
              <a:rPr lang="en-US" sz="10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 </a:t>
            </a:r>
            <a:r>
              <a:rPr lang="en-US" sz="1050" dirty="0">
                <a:solidFill>
                  <a:srgbClr val="6A995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 Plot the resulting </a:t>
            </a:r>
            <a:r>
              <a:rPr lang="en-US" sz="1050" dirty="0">
                <a:solidFill>
                  <a:srgbClr val="6A995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CPDAG</a:t>
            </a:r>
            <a:r>
              <a:rPr lang="en-US" sz="10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1050" dirty="0">
                <a:solidFill>
                  <a:srgbClr val="DCDCA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plot</a:t>
            </a:r>
            <a:r>
              <a:rPr lang="en-US" sz="10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(pc_fit, main = </a:t>
            </a:r>
            <a:r>
              <a:rPr lang="en-US" sz="1050" dirty="0">
                <a:solidFill>
                  <a:srgbClr val="CE917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"Estimated </a:t>
            </a:r>
            <a:r>
              <a:rPr lang="en-US" sz="1050" dirty="0">
                <a:solidFill>
                  <a:srgbClr val="CE917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CPDAG"</a:t>
            </a:r>
            <a:r>
              <a:rPr lang="en-US" sz="10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284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00125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57263"/>
            <a:ext cx="9144000" cy="42863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99145"/>
            <a:ext cx="4947047" cy="401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PC Algorithm: Learning the DAG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285750" y="1143000"/>
            <a:ext cx="4143375" cy="2286000"/>
          </a:xfrm>
          <a:prstGeom prst="rect">
            <a:avLst/>
          </a:prstGeom>
          <a:solidFill>
            <a:srgbClr val="F8F9FA"/>
          </a:solidFill>
          <a:ln w="9144">
            <a:solidFill>
              <a:srgbClr val="BDC3C7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143000"/>
            <a:ext cx="4143375" cy="2286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14875" y="1143000"/>
            <a:ext cx="4143375" cy="339328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224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Interpreting the Output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714875" y="1568053"/>
            <a:ext cx="414337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PC algorithm outputs a </a:t>
            </a:r>
            <a:r>
              <a:rPr lang="en-US" sz="1200" dirty="0">
                <a:solidFill>
                  <a:srgbClr val="0A2240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Completed Partially </a:t>
            </a:r>
            <a:r>
              <a:rPr lang="en-US" sz="1200" dirty="0">
                <a:solidFill>
                  <a:srgbClr val="0A2240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Directed Acyclic Graph (CPDAG)</a:t>
            </a: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You will notice </a:t>
            </a: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that not all edges are directed.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714875" y="2562430"/>
            <a:ext cx="4143375" cy="3023146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1" name="Shape 7"/>
          <p:cNvSpPr/>
          <p:nvPr/>
        </p:nvSpPr>
        <p:spPr>
          <a:xfrm>
            <a:off x="4714875" y="2562430"/>
            <a:ext cx="42863" cy="302314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2" name="Text 8"/>
          <p:cNvSpPr/>
          <p:nvPr/>
        </p:nvSpPr>
        <p:spPr>
          <a:xfrm>
            <a:off x="4800600" y="2648155"/>
            <a:ext cx="1921669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" kern="0" dirty="0">
                <a:solidFill>
                  <a:srgbClr val="0A224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MARKOV EQUIVALENCE CLASSES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800600" y="3305380"/>
            <a:ext cx="1921669" cy="1920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Observational data </a:t>
            </a: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alone cannot </a:t>
            </a: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distinguish between </a:t>
            </a: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graphs that encode the </a:t>
            </a: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same conditional </a:t>
            </a: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independencies (e.g., </a:t>
            </a:r>
            <a:r>
              <a:rPr lang="en-US" sz="1200" dirty="0">
                <a:solidFill>
                  <a:srgbClr val="0A2240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A </a:t>
            </a:r>
            <a:r>
              <a:rPr lang="en-US" sz="1200" dirty="0">
                <a:solidFill>
                  <a:srgbClr val="0A2240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→ B → C</a:t>
            </a: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vs </a:t>
            </a:r>
            <a:r>
              <a:rPr lang="en-US" sz="1200" dirty="0">
                <a:solidFill>
                  <a:srgbClr val="0A2240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A ← B ← </a:t>
            </a:r>
            <a:r>
              <a:rPr lang="en-US" sz="1200" dirty="0">
                <a:solidFill>
                  <a:srgbClr val="0A2240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C</a:t>
            </a: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).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850856" y="2648155"/>
            <a:ext cx="19216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" kern="0" dirty="0">
                <a:solidFill>
                  <a:srgbClr val="0A224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The Power of V-Structures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850856" y="3105355"/>
            <a:ext cx="1921669" cy="2194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v-structure (</a:t>
            </a:r>
            <a:r>
              <a:rPr lang="en-US" sz="1200" dirty="0">
                <a:solidFill>
                  <a:srgbClr val="0A2240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V2 → </a:t>
            </a:r>
            <a:r>
              <a:rPr lang="en-US" sz="1200" dirty="0">
                <a:solidFill>
                  <a:srgbClr val="0A2240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V3 ← V4</a:t>
            </a: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) is identifiable </a:t>
            </a: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because V2 and V4 are </a:t>
            </a: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marginally independent </a:t>
            </a: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but become dependent </a:t>
            </a: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when conditioning on </a:t>
            </a: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V3. The PC algorithm </a:t>
            </a: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orients these edges.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23113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00125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57263"/>
            <a:ext cx="9144000" cy="42863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99145"/>
            <a:ext cx="6000750" cy="401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Part 3: Causal Inference &amp; Do-Calculus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200025" y="1085850"/>
            <a:ext cx="4314825" cy="310753"/>
          </a:xfrm>
          <a:prstGeom prst="rect">
            <a:avLst/>
          </a:prstGeom>
          <a:noFill/>
          <a:ln/>
        </p:spPr>
        <p:txBody>
          <a:bodyPr wrap="square" lIns="0" tIns="0" rIns="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224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From Seeing to Doing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00025" y="1453753"/>
            <a:ext cx="4314825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Once we have a DAG, we can move beyond mere association to estimate causal effects.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00025" y="2059521"/>
            <a:ext cx="4314825" cy="604093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9" name="Shape 6"/>
          <p:cNvSpPr/>
          <p:nvPr/>
        </p:nvSpPr>
        <p:spPr>
          <a:xfrm>
            <a:off x="200025" y="2059521"/>
            <a:ext cx="28575" cy="604093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10" name="Text 7"/>
          <p:cNvSpPr/>
          <p:nvPr/>
        </p:nvSpPr>
        <p:spPr>
          <a:xfrm>
            <a:off x="1560463" y="2306734"/>
            <a:ext cx="9822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P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658689" y="2299590"/>
            <a:ext cx="5438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(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713077" y="2306734"/>
            <a:ext cx="9108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849282" y="2287088"/>
            <a:ext cx="82153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∣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976558" y="2306734"/>
            <a:ext cx="10001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X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076571" y="2299590"/>
            <a:ext cx="5438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176081" y="2315663"/>
            <a:ext cx="89632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≠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310836" y="2306734"/>
            <a:ext cx="9822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P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409062" y="2299590"/>
            <a:ext cx="5438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(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463450" y="2306734"/>
            <a:ext cx="9108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Y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599655" y="2287088"/>
            <a:ext cx="82153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∣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726931" y="2299590"/>
            <a:ext cx="8215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d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809084" y="2335309"/>
            <a:ext cx="82153" cy="803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o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2891237" y="2299590"/>
            <a:ext cx="5438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(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945625" y="2306734"/>
            <a:ext cx="10001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X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045637" y="2299590"/>
            <a:ext cx="5438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)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100025" y="2299590"/>
            <a:ext cx="5438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)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200025" y="2720764"/>
            <a:ext cx="4314825" cy="548618"/>
          </a:xfrm>
          <a:prstGeom prst="rect">
            <a:avLst/>
          </a:prstGeom>
          <a:noFill/>
          <a:ln/>
        </p:spPr>
        <p:txBody>
          <a:bodyPr wrap="square" lIns="238125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Observing (X):</a:t>
            </a: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Filters the population to those who naturally chose X.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200025" y="3312244"/>
            <a:ext cx="4314825" cy="548618"/>
          </a:xfrm>
          <a:prstGeom prst="rect">
            <a:avLst/>
          </a:prstGeom>
          <a:noFill/>
          <a:ln/>
        </p:spPr>
        <p:txBody>
          <a:bodyPr wrap="square" lIns="238125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Intervening (do(X)):</a:t>
            </a: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Forces everyone to take X, breaking incoming arrows to X.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200025" y="2720764"/>
            <a:ext cx="8628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D4AF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200025" y="3312244"/>
            <a:ext cx="8628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D4AF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4629150" y="1085850"/>
            <a:ext cx="4314825" cy="310753"/>
          </a:xfrm>
          <a:prstGeom prst="rect">
            <a:avLst/>
          </a:prstGeom>
          <a:noFill/>
          <a:ln/>
        </p:spPr>
        <p:txBody>
          <a:bodyPr wrap="square" lIns="0" tIns="0" rIns="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224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Defining a DAG in R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4629150" y="1453753"/>
            <a:ext cx="4314825" cy="4486275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3" name="Text 30"/>
          <p:cNvSpPr/>
          <p:nvPr/>
        </p:nvSpPr>
        <p:spPr>
          <a:xfrm>
            <a:off x="4672013" y="1496616"/>
            <a:ext cx="42291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A995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 Load and plot DAG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4672013" y="1696641"/>
            <a:ext cx="42291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library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4672013" y="1902023"/>
            <a:ext cx="8572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4672013" y="2096691"/>
            <a:ext cx="42291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"dagitty"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4672013" y="2302073"/>
            <a:ext cx="17145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);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4672013" y="2496741"/>
            <a:ext cx="42291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library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4672013" y="2702123"/>
            <a:ext cx="8572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4672013" y="2896791"/>
            <a:ext cx="42291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"ggdag"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4672013" y="3102173"/>
            <a:ext cx="8572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4672013" y="3296841"/>
            <a:ext cx="42291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A995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# Define &amp; plot in compact form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4672013" y="3496866"/>
            <a:ext cx="42291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dag_model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4672013" y="3702248"/>
            <a:ext cx="17145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&lt;-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4672013" y="3896916"/>
            <a:ext cx="42291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dagitty</a:t>
            </a:r>
            <a:endParaRPr 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4672013" y="4102298"/>
            <a:ext cx="8572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4672013" y="4296966"/>
            <a:ext cx="42291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'dag { C [pos="0,1"]; X [exposure,pos="-1,0"]; M</a:t>
            </a:r>
            <a:endParaRPr lang="en-US" sz="1050" dirty="0"/>
          </a:p>
        </p:txBody>
      </p:sp>
      <p:sp>
        <p:nvSpPr>
          <p:cNvPr id="48" name="Text 45"/>
          <p:cNvSpPr/>
          <p:nvPr/>
        </p:nvSpPr>
        <p:spPr>
          <a:xfrm>
            <a:off x="4672013" y="4496991"/>
            <a:ext cx="42291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[pos="0,0"]; Y [outcome,pos="1,0"]; C -&gt; X; C -&gt;</a:t>
            </a:r>
            <a:endParaRPr lang="en-US" sz="1050" dirty="0"/>
          </a:p>
        </p:txBody>
      </p:sp>
      <p:sp>
        <p:nvSpPr>
          <p:cNvPr id="49" name="Text 46"/>
          <p:cNvSpPr/>
          <p:nvPr/>
        </p:nvSpPr>
        <p:spPr>
          <a:xfrm>
            <a:off x="4672013" y="4697016"/>
            <a:ext cx="42291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Y; X -&gt; M; M -&gt; Y }'</a:t>
            </a:r>
            <a:endParaRPr lang="en-US" sz="1050" dirty="0"/>
          </a:p>
        </p:txBody>
      </p:sp>
      <p:sp>
        <p:nvSpPr>
          <p:cNvPr id="50" name="Text 47"/>
          <p:cNvSpPr/>
          <p:nvPr/>
        </p:nvSpPr>
        <p:spPr>
          <a:xfrm>
            <a:off x="4672013" y="4902398"/>
            <a:ext cx="8572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4672013" y="5097066"/>
            <a:ext cx="42291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ggdag</a:t>
            </a:r>
            <a:endParaRPr lang="en-US" sz="1050" dirty="0"/>
          </a:p>
        </p:txBody>
      </p:sp>
      <p:sp>
        <p:nvSpPr>
          <p:cNvPr id="52" name="Text 49"/>
          <p:cNvSpPr/>
          <p:nvPr/>
        </p:nvSpPr>
        <p:spPr>
          <a:xfrm>
            <a:off x="4672013" y="5302448"/>
            <a:ext cx="205740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(dag_model, text_size =</a:t>
            </a:r>
            <a:endParaRPr lang="en-US" sz="1050" dirty="0"/>
          </a:p>
        </p:txBody>
      </p:sp>
      <p:sp>
        <p:nvSpPr>
          <p:cNvPr id="53" name="Text 50"/>
          <p:cNvSpPr/>
          <p:nvPr/>
        </p:nvSpPr>
        <p:spPr>
          <a:xfrm>
            <a:off x="6729413" y="5302448"/>
            <a:ext cx="8572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5</a:t>
            </a:r>
            <a:endParaRPr lang="en-US" sz="1050" dirty="0"/>
          </a:p>
        </p:txBody>
      </p:sp>
      <p:sp>
        <p:nvSpPr>
          <p:cNvPr id="54" name="Text 51"/>
          <p:cNvSpPr/>
          <p:nvPr/>
        </p:nvSpPr>
        <p:spPr>
          <a:xfrm>
            <a:off x="6815138" y="5302448"/>
            <a:ext cx="25717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 +</a:t>
            </a:r>
            <a:endParaRPr lang="en-US" sz="1050" dirty="0"/>
          </a:p>
        </p:txBody>
      </p:sp>
      <p:sp>
        <p:nvSpPr>
          <p:cNvPr id="55" name="Text 52"/>
          <p:cNvSpPr/>
          <p:nvPr/>
        </p:nvSpPr>
        <p:spPr>
          <a:xfrm>
            <a:off x="4672013" y="5497116"/>
            <a:ext cx="42291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theme_dag</a:t>
            </a:r>
            <a:endParaRPr lang="en-US" sz="1050" dirty="0"/>
          </a:p>
        </p:txBody>
      </p:sp>
      <p:sp>
        <p:nvSpPr>
          <p:cNvPr id="56" name="Text 53"/>
          <p:cNvSpPr/>
          <p:nvPr/>
        </p:nvSpPr>
        <p:spPr>
          <a:xfrm>
            <a:off x="4672013" y="5702498"/>
            <a:ext cx="17145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()</a:t>
            </a:r>
            <a:endParaRPr lang="en-US" sz="1050" dirty="0"/>
          </a:p>
        </p:txBody>
      </p:sp>
      <p:sp>
        <p:nvSpPr>
          <p:cNvPr id="57" name="Text 54"/>
          <p:cNvSpPr/>
          <p:nvPr/>
        </p:nvSpPr>
        <p:spPr>
          <a:xfrm>
            <a:off x="4629150" y="5982891"/>
            <a:ext cx="4314825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Note: Use the dagitty package to find adjustment sets and test d-separation.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6575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00125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57263"/>
            <a:ext cx="9144000" cy="42863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99145"/>
            <a:ext cx="3573661" cy="401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The Backdoor Criterion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285750" y="1143000"/>
            <a:ext cx="3831645" cy="339328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224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Blocking Confounding Paths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85750" y="1616273"/>
            <a:ext cx="233064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 estimate the causal effect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2616398" y="1593056"/>
            <a:ext cx="12501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2C3E5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P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2741414" y="1585913"/>
            <a:ext cx="6914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2C3E5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(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2810563" y="1593056"/>
            <a:ext cx="11608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2C3E5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Y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2984190" y="1585913"/>
            <a:ext cx="41579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2C3E5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|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3083309" y="1585913"/>
            <a:ext cx="103584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2C3E5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d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3186894" y="1632347"/>
            <a:ext cx="103584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2C3E5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o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3290478" y="1585913"/>
            <a:ext cx="6914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2C3E5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(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3359627" y="1593056"/>
            <a:ext cx="126802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2C3E5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X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3486429" y="1585913"/>
            <a:ext cx="6914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2C3E5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)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3555578" y="1585913"/>
            <a:ext cx="6914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2C3E5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)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3696974" y="1616273"/>
            <a:ext cx="31789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we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285750" y="1890582"/>
            <a:ext cx="300573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must block all "backdoor" paths from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3291483" y="1860221"/>
            <a:ext cx="126802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2C3E5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X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3468374" y="1890582"/>
            <a:ext cx="25360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3721977" y="1860221"/>
            <a:ext cx="11608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2C3E5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Y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285750" y="2164891"/>
            <a:ext cx="274855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(paths with an arrow pointing into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3034308" y="2134530"/>
            <a:ext cx="126802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2C3E5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X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3211199" y="2164891"/>
            <a:ext cx="9465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).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285750" y="2524925"/>
            <a:ext cx="153769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If a set of variables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1823442" y="2494564"/>
            <a:ext cx="139303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2C3E5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C</a:t>
            </a:r>
            <a:endParaRPr lang="en-US" sz="1550" dirty="0"/>
          </a:p>
        </p:txBody>
      </p:sp>
      <p:sp>
        <p:nvSpPr>
          <p:cNvPr id="28" name="Text 25"/>
          <p:cNvSpPr/>
          <p:nvPr/>
        </p:nvSpPr>
        <p:spPr>
          <a:xfrm>
            <a:off x="1981219" y="2524925"/>
            <a:ext cx="179308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satisfies the backdoor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285750" y="2799234"/>
            <a:ext cx="199846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criterion, we can use the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2284214" y="2799234"/>
            <a:ext cx="166270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adjustment formula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3946922" y="2799234"/>
            <a:ext cx="4464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285750" y="3139622"/>
            <a:ext cx="3831645" cy="78489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3" name="Shape 30"/>
          <p:cNvSpPr/>
          <p:nvPr/>
        </p:nvSpPr>
        <p:spPr>
          <a:xfrm>
            <a:off x="285750" y="3139622"/>
            <a:ext cx="28575" cy="784892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34" name="Text 31"/>
          <p:cNvSpPr/>
          <p:nvPr/>
        </p:nvSpPr>
        <p:spPr>
          <a:xfrm>
            <a:off x="865594" y="3374334"/>
            <a:ext cx="9822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P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963820" y="3367190"/>
            <a:ext cx="5438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(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018208" y="3374334"/>
            <a:ext cx="9108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Y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1154413" y="3367190"/>
            <a:ext cx="3270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|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1232241" y="3367190"/>
            <a:ext cx="8215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d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1314394" y="3402909"/>
            <a:ext cx="82153" cy="803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o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1396547" y="3367190"/>
            <a:ext cx="5438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(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1450935" y="3374334"/>
            <a:ext cx="10001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X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1550947" y="3367190"/>
            <a:ext cx="5438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)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1605335" y="3367190"/>
            <a:ext cx="5438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)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1704845" y="3406480"/>
            <a:ext cx="92087" cy="4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=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1869123" y="3372603"/>
            <a:ext cx="11639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∑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1901410" y="3515478"/>
            <a:ext cx="51792" cy="571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c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2012584" y="3374334"/>
            <a:ext cx="9822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P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2110811" y="3367190"/>
            <a:ext cx="5438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(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2165198" y="3374334"/>
            <a:ext cx="9108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Y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2301404" y="3367190"/>
            <a:ext cx="3270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|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2379232" y="3374334"/>
            <a:ext cx="10001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X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2479244" y="3463630"/>
            <a:ext cx="40825" cy="446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,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2547138" y="3372548"/>
            <a:ext cx="10894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C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2701203" y="3406480"/>
            <a:ext cx="92087" cy="4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=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2838413" y="3402909"/>
            <a:ext cx="73223" cy="803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c</a:t>
            </a:r>
            <a:endParaRPr lang="en-US" sz="1200" dirty="0"/>
          </a:p>
        </p:txBody>
      </p:sp>
      <p:sp>
        <p:nvSpPr>
          <p:cNvPr id="56" name="Text 53"/>
          <p:cNvSpPr/>
          <p:nvPr/>
        </p:nvSpPr>
        <p:spPr>
          <a:xfrm>
            <a:off x="2911636" y="3367190"/>
            <a:ext cx="5438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)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2966024" y="3374334"/>
            <a:ext cx="9822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P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3064250" y="3367190"/>
            <a:ext cx="5438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(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3118638" y="3372548"/>
            <a:ext cx="10894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C</a:t>
            </a:r>
            <a:endParaRPr lang="en-US" sz="1200" dirty="0"/>
          </a:p>
        </p:txBody>
      </p:sp>
      <p:sp>
        <p:nvSpPr>
          <p:cNvPr id="60" name="Text 57"/>
          <p:cNvSpPr/>
          <p:nvPr/>
        </p:nvSpPr>
        <p:spPr>
          <a:xfrm>
            <a:off x="3272703" y="3406480"/>
            <a:ext cx="92087" cy="4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=</a:t>
            </a:r>
            <a:endParaRPr lang="en-US" sz="1200" dirty="0"/>
          </a:p>
        </p:txBody>
      </p:sp>
      <p:sp>
        <p:nvSpPr>
          <p:cNvPr id="61" name="Text 58"/>
          <p:cNvSpPr/>
          <p:nvPr/>
        </p:nvSpPr>
        <p:spPr>
          <a:xfrm>
            <a:off x="3409913" y="3402909"/>
            <a:ext cx="73223" cy="803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c</a:t>
            </a:r>
            <a:endParaRPr lang="en-US" sz="1200" dirty="0"/>
          </a:p>
        </p:txBody>
      </p:sp>
      <p:sp>
        <p:nvSpPr>
          <p:cNvPr id="62" name="Text 59"/>
          <p:cNvSpPr/>
          <p:nvPr/>
        </p:nvSpPr>
        <p:spPr>
          <a:xfrm>
            <a:off x="3483136" y="3367190"/>
            <a:ext cx="5438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)</a:t>
            </a:r>
            <a:endParaRPr lang="en-US" sz="1200" dirty="0"/>
          </a:p>
        </p:txBody>
      </p:sp>
      <p:sp>
        <p:nvSpPr>
          <p:cNvPr id="63" name="Shape 60"/>
          <p:cNvSpPr/>
          <p:nvPr/>
        </p:nvSpPr>
        <p:spPr>
          <a:xfrm>
            <a:off x="285750" y="4095964"/>
            <a:ext cx="3831645" cy="1026914"/>
          </a:xfrm>
          <a:prstGeom prst="rect">
            <a:avLst/>
          </a:prstGeom>
          <a:solidFill>
            <a:srgbClr val="EAECEE"/>
          </a:solidFill>
          <a:ln/>
        </p:spPr>
      </p:sp>
      <p:sp>
        <p:nvSpPr>
          <p:cNvPr id="64" name="Shape 61"/>
          <p:cNvSpPr/>
          <p:nvPr/>
        </p:nvSpPr>
        <p:spPr>
          <a:xfrm>
            <a:off x="285750" y="4095964"/>
            <a:ext cx="28575" cy="102691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5" name="Text 62"/>
          <p:cNvSpPr/>
          <p:nvPr/>
        </p:nvSpPr>
        <p:spPr>
          <a:xfrm>
            <a:off x="342900" y="4153114"/>
            <a:ext cx="3717345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24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WHY NOT CONDITION ON M?</a:t>
            </a:r>
            <a:endParaRPr lang="en-US" sz="1100" dirty="0"/>
          </a:p>
        </p:txBody>
      </p:sp>
      <p:sp>
        <p:nvSpPr>
          <p:cNvPr id="66" name="Text 63"/>
          <p:cNvSpPr/>
          <p:nvPr/>
        </p:nvSpPr>
        <p:spPr>
          <a:xfrm>
            <a:off x="342900" y="4396001"/>
            <a:ext cx="190202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Conditioning on a mediator (</a:t>
            </a:r>
            <a:endParaRPr lang="en-US" sz="1050" dirty="0"/>
          </a:p>
        </p:txBody>
      </p:sp>
      <p:sp>
        <p:nvSpPr>
          <p:cNvPr id="67" name="Text 64"/>
          <p:cNvSpPr/>
          <p:nvPr/>
        </p:nvSpPr>
        <p:spPr>
          <a:xfrm>
            <a:off x="2244923" y="4372784"/>
            <a:ext cx="14287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M</a:t>
            </a:r>
            <a:endParaRPr lang="en-US" sz="1300" dirty="0"/>
          </a:p>
        </p:txBody>
      </p:sp>
      <p:sp>
        <p:nvSpPr>
          <p:cNvPr id="68" name="Text 65"/>
          <p:cNvSpPr/>
          <p:nvPr/>
        </p:nvSpPr>
        <p:spPr>
          <a:xfrm>
            <a:off x="2426615" y="4396001"/>
            <a:ext cx="121086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) blocks the causal</a:t>
            </a:r>
            <a:endParaRPr lang="en-US" sz="1050" dirty="0"/>
          </a:p>
        </p:txBody>
      </p:sp>
      <p:sp>
        <p:nvSpPr>
          <p:cNvPr id="69" name="Text 66"/>
          <p:cNvSpPr/>
          <p:nvPr/>
        </p:nvSpPr>
        <p:spPr>
          <a:xfrm>
            <a:off x="342900" y="4624601"/>
            <a:ext cx="354508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pathway we want to measure! The backdoor criterion</a:t>
            </a:r>
            <a:endParaRPr lang="en-US" sz="1050" dirty="0"/>
          </a:p>
        </p:txBody>
      </p:sp>
      <p:sp>
        <p:nvSpPr>
          <p:cNvPr id="70" name="Text 67"/>
          <p:cNvSpPr/>
          <p:nvPr/>
        </p:nvSpPr>
        <p:spPr>
          <a:xfrm>
            <a:off x="342900" y="4853201"/>
            <a:ext cx="325040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explicitly forbids conditioning on descendants of</a:t>
            </a:r>
            <a:endParaRPr lang="en-US" sz="1050" dirty="0"/>
          </a:p>
        </p:txBody>
      </p:sp>
      <p:sp>
        <p:nvSpPr>
          <p:cNvPr id="71" name="Text 68"/>
          <p:cNvSpPr/>
          <p:nvPr/>
        </p:nvSpPr>
        <p:spPr>
          <a:xfrm>
            <a:off x="3593306" y="4829984"/>
            <a:ext cx="10537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X</a:t>
            </a:r>
            <a:endParaRPr lang="en-US" sz="1300" dirty="0"/>
          </a:p>
        </p:txBody>
      </p:sp>
      <p:sp>
        <p:nvSpPr>
          <p:cNvPr id="72" name="Text 69"/>
          <p:cNvSpPr/>
          <p:nvPr/>
        </p:nvSpPr>
        <p:spPr>
          <a:xfrm>
            <a:off x="3740590" y="4853201"/>
            <a:ext cx="3750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050" dirty="0"/>
          </a:p>
        </p:txBody>
      </p:sp>
      <p:sp>
        <p:nvSpPr>
          <p:cNvPr id="73" name="Shape 70"/>
          <p:cNvSpPr/>
          <p:nvPr/>
        </p:nvSpPr>
        <p:spPr>
          <a:xfrm>
            <a:off x="4260270" y="2075650"/>
            <a:ext cx="4597980" cy="1714500"/>
          </a:xfrm>
          <a:prstGeom prst="rect">
            <a:avLst/>
          </a:prstGeom>
          <a:solidFill>
            <a:srgbClr val="F9FBFD"/>
          </a:solidFill>
          <a:ln w="9144">
            <a:solidFill>
              <a:srgbClr val="BDC3C7"/>
            </a:solidFill>
            <a:prstDash val="solid"/>
          </a:ln>
        </p:spPr>
      </p:sp>
      <p:pic>
        <p:nvPicPr>
          <p:cNvPr id="7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0270" y="2122363"/>
            <a:ext cx="4597980" cy="1621073"/>
          </a:xfrm>
          <a:prstGeom prst="rect">
            <a:avLst/>
          </a:prstGeom>
        </p:spPr>
      </p:pic>
      <p:sp>
        <p:nvSpPr>
          <p:cNvPr id="75" name="Text 71"/>
          <p:cNvSpPr/>
          <p:nvPr/>
        </p:nvSpPr>
        <p:spPr>
          <a:xfrm>
            <a:off x="4499167" y="3891948"/>
            <a:ext cx="362723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i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Left: Observational DAG. Right: Mutilated graph under</a:t>
            </a:r>
            <a:endParaRPr lang="en-US" sz="1050" dirty="0"/>
          </a:p>
        </p:txBody>
      </p:sp>
      <p:sp>
        <p:nvSpPr>
          <p:cNvPr id="76" name="Text 72"/>
          <p:cNvSpPr/>
          <p:nvPr/>
        </p:nvSpPr>
        <p:spPr>
          <a:xfrm>
            <a:off x="8126406" y="3868731"/>
            <a:ext cx="85725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d</a:t>
            </a:r>
            <a:endParaRPr lang="en-US" sz="1300" dirty="0"/>
          </a:p>
        </p:txBody>
      </p:sp>
      <p:sp>
        <p:nvSpPr>
          <p:cNvPr id="77" name="Text 73"/>
          <p:cNvSpPr/>
          <p:nvPr/>
        </p:nvSpPr>
        <p:spPr>
          <a:xfrm>
            <a:off x="8212131" y="3908022"/>
            <a:ext cx="85725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o</a:t>
            </a:r>
            <a:endParaRPr lang="en-US" sz="1300" dirty="0"/>
          </a:p>
        </p:txBody>
      </p:sp>
      <p:sp>
        <p:nvSpPr>
          <p:cNvPr id="78" name="Text 74"/>
          <p:cNvSpPr/>
          <p:nvPr/>
        </p:nvSpPr>
        <p:spPr>
          <a:xfrm>
            <a:off x="8297856" y="3868731"/>
            <a:ext cx="57569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(</a:t>
            </a:r>
            <a:endParaRPr lang="en-US" sz="1300" dirty="0"/>
          </a:p>
        </p:txBody>
      </p:sp>
      <p:sp>
        <p:nvSpPr>
          <p:cNvPr id="79" name="Text 75"/>
          <p:cNvSpPr/>
          <p:nvPr/>
        </p:nvSpPr>
        <p:spPr>
          <a:xfrm>
            <a:off x="8355425" y="3875875"/>
            <a:ext cx="10537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X</a:t>
            </a:r>
            <a:endParaRPr lang="en-US" sz="1300" dirty="0"/>
          </a:p>
        </p:txBody>
      </p:sp>
      <p:sp>
        <p:nvSpPr>
          <p:cNvPr id="80" name="Text 76"/>
          <p:cNvSpPr/>
          <p:nvPr/>
        </p:nvSpPr>
        <p:spPr>
          <a:xfrm>
            <a:off x="8460795" y="3868731"/>
            <a:ext cx="57569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)</a:t>
            </a:r>
            <a:endParaRPr lang="en-US" sz="1300" dirty="0"/>
          </a:p>
        </p:txBody>
      </p:sp>
      <p:sp>
        <p:nvSpPr>
          <p:cNvPr id="81" name="Text 77"/>
          <p:cNvSpPr/>
          <p:nvPr/>
        </p:nvSpPr>
        <p:spPr>
          <a:xfrm>
            <a:off x="8581848" y="3891948"/>
            <a:ext cx="3750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i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00125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57263"/>
            <a:ext cx="9144000" cy="42863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99145"/>
            <a:ext cx="3616523" cy="401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The Frontdoor Criterion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428625" y="1085850"/>
            <a:ext cx="5026409" cy="339328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224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Unobserved Confounding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28625" y="1559123"/>
            <a:ext cx="189488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if the confounder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2323505" y="1528763"/>
            <a:ext cx="150019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2C3E5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U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2482732" y="1559123"/>
            <a:ext cx="214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2697045" y="1559123"/>
            <a:ext cx="98226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unobserved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679310" y="1559123"/>
            <a:ext cx="160555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? We cannot use the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28625" y="1833432"/>
            <a:ext cx="41433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backdoor criterion because we cannot condition on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72000" y="1803071"/>
            <a:ext cx="150019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2C3E5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U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4731227" y="1833432"/>
            <a:ext cx="4464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28625" y="2222041"/>
            <a:ext cx="256103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However, if we have a mediator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2989659" y="2191680"/>
            <a:ext cx="17145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2C3E5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M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3207851" y="2222041"/>
            <a:ext cx="205382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that is fully observed and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28625" y="2496350"/>
            <a:ext cx="110728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isolated from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535906" y="2465989"/>
            <a:ext cx="150019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2C3E5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U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1695134" y="2496350"/>
            <a:ext cx="132516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we can use the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3020299" y="2496350"/>
            <a:ext cx="157341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Frontdoor Formula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93710" y="2496350"/>
            <a:ext cx="4464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428625" y="2865313"/>
            <a:ext cx="5026409" cy="850469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4" name="Shape 21"/>
          <p:cNvSpPr/>
          <p:nvPr/>
        </p:nvSpPr>
        <p:spPr>
          <a:xfrm>
            <a:off x="428625" y="2865313"/>
            <a:ext cx="28575" cy="850469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25" name="Text 22"/>
          <p:cNvSpPr/>
          <p:nvPr/>
        </p:nvSpPr>
        <p:spPr>
          <a:xfrm>
            <a:off x="856804" y="3166021"/>
            <a:ext cx="9822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P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55030" y="3158877"/>
            <a:ext cx="5438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(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009417" y="3166021"/>
            <a:ext cx="9108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Y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145623" y="3158877"/>
            <a:ext cx="3270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|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223451" y="3158877"/>
            <a:ext cx="8215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d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305604" y="3194596"/>
            <a:ext cx="82153" cy="803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o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1387757" y="3158877"/>
            <a:ext cx="5438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(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442145" y="3166021"/>
            <a:ext cx="10001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X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542157" y="3158877"/>
            <a:ext cx="5438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)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596544" y="3158877"/>
            <a:ext cx="5438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)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1696055" y="3198168"/>
            <a:ext cx="92087" cy="4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=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860333" y="3164291"/>
            <a:ext cx="11639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∑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1876546" y="3307166"/>
            <a:ext cx="83939" cy="553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m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2003794" y="3166021"/>
            <a:ext cx="9822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P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2102021" y="3158877"/>
            <a:ext cx="5438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(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2156408" y="3166021"/>
            <a:ext cx="13573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M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2337262" y="3198168"/>
            <a:ext cx="92087" cy="4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=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2474472" y="3194596"/>
            <a:ext cx="117872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m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2637467" y="3158877"/>
            <a:ext cx="3270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|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2715295" y="3166021"/>
            <a:ext cx="10001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X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2815307" y="3158877"/>
            <a:ext cx="5438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)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2896763" y="3164291"/>
            <a:ext cx="11639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∑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2908427" y="3362139"/>
            <a:ext cx="51792" cy="535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x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2960219" y="3307166"/>
            <a:ext cx="18027" cy="214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′</a:t>
            </a:r>
            <a:endParaRPr lang="en-US" sz="600" dirty="0"/>
          </a:p>
        </p:txBody>
      </p:sp>
      <p:sp>
        <p:nvSpPr>
          <p:cNvPr id="49" name="Text 46"/>
          <p:cNvSpPr/>
          <p:nvPr/>
        </p:nvSpPr>
        <p:spPr>
          <a:xfrm>
            <a:off x="3040224" y="3166021"/>
            <a:ext cx="9822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P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3138450" y="3158877"/>
            <a:ext cx="5438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(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3192838" y="3166021"/>
            <a:ext cx="9108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Y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3329043" y="3158877"/>
            <a:ext cx="3270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|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3406871" y="3166021"/>
            <a:ext cx="13573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M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3587725" y="3198168"/>
            <a:ext cx="92087" cy="4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=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3724935" y="3194596"/>
            <a:ext cx="117872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m</a:t>
            </a:r>
            <a:endParaRPr lang="en-US" sz="1200" dirty="0"/>
          </a:p>
        </p:txBody>
      </p:sp>
      <p:sp>
        <p:nvSpPr>
          <p:cNvPr id="56" name="Text 53"/>
          <p:cNvSpPr/>
          <p:nvPr/>
        </p:nvSpPr>
        <p:spPr>
          <a:xfrm>
            <a:off x="3842807" y="3255318"/>
            <a:ext cx="40825" cy="446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,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3910701" y="3166021"/>
            <a:ext cx="10001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X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4055836" y="3198168"/>
            <a:ext cx="92087" cy="4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=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4193046" y="3198168"/>
            <a:ext cx="73223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x</a:t>
            </a:r>
            <a:endParaRPr lang="en-US" sz="1200" dirty="0"/>
          </a:p>
        </p:txBody>
      </p:sp>
      <p:sp>
        <p:nvSpPr>
          <p:cNvPr id="60" name="Text 57"/>
          <p:cNvSpPr/>
          <p:nvPr/>
        </p:nvSpPr>
        <p:spPr>
          <a:xfrm>
            <a:off x="4266270" y="3121456"/>
            <a:ext cx="25366" cy="285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′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4323783" y="3158877"/>
            <a:ext cx="5438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)</a:t>
            </a:r>
            <a:endParaRPr lang="en-US" sz="1200" dirty="0"/>
          </a:p>
        </p:txBody>
      </p:sp>
      <p:sp>
        <p:nvSpPr>
          <p:cNvPr id="62" name="Text 59"/>
          <p:cNvSpPr/>
          <p:nvPr/>
        </p:nvSpPr>
        <p:spPr>
          <a:xfrm>
            <a:off x="4378170" y="3166021"/>
            <a:ext cx="9822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P</a:t>
            </a:r>
            <a:endParaRPr lang="en-US" sz="1200" dirty="0"/>
          </a:p>
        </p:txBody>
      </p:sp>
      <p:sp>
        <p:nvSpPr>
          <p:cNvPr id="63" name="Text 60"/>
          <p:cNvSpPr/>
          <p:nvPr/>
        </p:nvSpPr>
        <p:spPr>
          <a:xfrm>
            <a:off x="4476397" y="3158877"/>
            <a:ext cx="5438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(</a:t>
            </a:r>
            <a:endParaRPr lang="en-US" sz="1200" dirty="0"/>
          </a:p>
        </p:txBody>
      </p:sp>
      <p:sp>
        <p:nvSpPr>
          <p:cNvPr id="64" name="Text 61"/>
          <p:cNvSpPr/>
          <p:nvPr/>
        </p:nvSpPr>
        <p:spPr>
          <a:xfrm>
            <a:off x="4530784" y="3166021"/>
            <a:ext cx="10001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X</a:t>
            </a:r>
            <a:endParaRPr lang="en-US" sz="1200" dirty="0"/>
          </a:p>
        </p:txBody>
      </p:sp>
      <p:sp>
        <p:nvSpPr>
          <p:cNvPr id="65" name="Text 62"/>
          <p:cNvSpPr/>
          <p:nvPr/>
        </p:nvSpPr>
        <p:spPr>
          <a:xfrm>
            <a:off x="4675919" y="3198168"/>
            <a:ext cx="92087" cy="4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=</a:t>
            </a:r>
            <a:endParaRPr lang="en-US" sz="1200" dirty="0"/>
          </a:p>
        </p:txBody>
      </p:sp>
      <p:sp>
        <p:nvSpPr>
          <p:cNvPr id="66" name="Text 63"/>
          <p:cNvSpPr/>
          <p:nvPr/>
        </p:nvSpPr>
        <p:spPr>
          <a:xfrm>
            <a:off x="4813129" y="3198168"/>
            <a:ext cx="73223" cy="75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x</a:t>
            </a:r>
            <a:endParaRPr lang="en-US" sz="1200" dirty="0"/>
          </a:p>
        </p:txBody>
      </p:sp>
      <p:sp>
        <p:nvSpPr>
          <p:cNvPr id="67" name="Text 64"/>
          <p:cNvSpPr/>
          <p:nvPr/>
        </p:nvSpPr>
        <p:spPr>
          <a:xfrm>
            <a:off x="4886353" y="3121456"/>
            <a:ext cx="25366" cy="285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′</a:t>
            </a:r>
            <a:endParaRPr lang="en-US" sz="850" dirty="0"/>
          </a:p>
        </p:txBody>
      </p:sp>
      <p:sp>
        <p:nvSpPr>
          <p:cNvPr id="68" name="Text 65"/>
          <p:cNvSpPr/>
          <p:nvPr/>
        </p:nvSpPr>
        <p:spPr>
          <a:xfrm>
            <a:off x="4943866" y="3158877"/>
            <a:ext cx="5438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)</a:t>
            </a:r>
            <a:endParaRPr lang="en-US" sz="1200" dirty="0"/>
          </a:p>
        </p:txBody>
      </p:sp>
      <p:sp>
        <p:nvSpPr>
          <p:cNvPr id="69" name="Shape 66"/>
          <p:cNvSpPr/>
          <p:nvPr/>
        </p:nvSpPr>
        <p:spPr>
          <a:xfrm>
            <a:off x="428625" y="3915807"/>
            <a:ext cx="4997834" cy="1098352"/>
          </a:xfrm>
          <a:prstGeom prst="rect">
            <a:avLst/>
          </a:prstGeom>
          <a:solidFill>
            <a:srgbClr val="EAECEE"/>
          </a:solidFill>
          <a:ln/>
        </p:spPr>
      </p:sp>
      <p:sp>
        <p:nvSpPr>
          <p:cNvPr id="70" name="Shape 67"/>
          <p:cNvSpPr/>
          <p:nvPr/>
        </p:nvSpPr>
        <p:spPr>
          <a:xfrm>
            <a:off x="428625" y="3915807"/>
            <a:ext cx="28575" cy="10983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1" name="Text 68"/>
          <p:cNvSpPr/>
          <p:nvPr/>
        </p:nvSpPr>
        <p:spPr>
          <a:xfrm>
            <a:off x="514350" y="4001532"/>
            <a:ext cx="4826384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24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TWO SEQUENTIAL BACKDOORS</a:t>
            </a:r>
            <a:endParaRPr lang="en-US" sz="1100" dirty="0"/>
          </a:p>
        </p:txBody>
      </p:sp>
      <p:sp>
        <p:nvSpPr>
          <p:cNvPr id="72" name="Text 69"/>
          <p:cNvSpPr/>
          <p:nvPr/>
        </p:nvSpPr>
        <p:spPr>
          <a:xfrm>
            <a:off x="514350" y="4258707"/>
            <a:ext cx="46720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frontdoor formula works by applying the backdoor criterion twice:</a:t>
            </a:r>
            <a:endParaRPr lang="en-US" sz="1050" dirty="0"/>
          </a:p>
        </p:txBody>
      </p:sp>
      <p:sp>
        <p:nvSpPr>
          <p:cNvPr id="73" name="Text 70"/>
          <p:cNvSpPr/>
          <p:nvPr/>
        </p:nvSpPr>
        <p:spPr>
          <a:xfrm>
            <a:off x="514350" y="4487307"/>
            <a:ext cx="295215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first to estimate the unconfounded effect of</a:t>
            </a:r>
            <a:endParaRPr lang="en-US" sz="1050" dirty="0"/>
          </a:p>
        </p:txBody>
      </p:sp>
      <p:sp>
        <p:nvSpPr>
          <p:cNvPr id="74" name="Text 71"/>
          <p:cNvSpPr/>
          <p:nvPr/>
        </p:nvSpPr>
        <p:spPr>
          <a:xfrm>
            <a:off x="3466505" y="4464090"/>
            <a:ext cx="10537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X</a:t>
            </a:r>
            <a:endParaRPr lang="en-US" sz="1300" dirty="0"/>
          </a:p>
        </p:txBody>
      </p:sp>
      <p:sp>
        <p:nvSpPr>
          <p:cNvPr id="75" name="Text 72"/>
          <p:cNvSpPr/>
          <p:nvPr/>
        </p:nvSpPr>
        <p:spPr>
          <a:xfrm>
            <a:off x="3619984" y="4528384"/>
            <a:ext cx="172873" cy="4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→</a:t>
            </a:r>
            <a:endParaRPr lang="en-US" sz="1300" dirty="0"/>
          </a:p>
        </p:txBody>
      </p:sp>
      <p:sp>
        <p:nvSpPr>
          <p:cNvPr id="76" name="Text 73"/>
          <p:cNvSpPr/>
          <p:nvPr/>
        </p:nvSpPr>
        <p:spPr>
          <a:xfrm>
            <a:off x="3840966" y="4464090"/>
            <a:ext cx="14287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M</a:t>
            </a:r>
            <a:endParaRPr lang="en-US" sz="1300" dirty="0"/>
          </a:p>
        </p:txBody>
      </p:sp>
      <p:sp>
        <p:nvSpPr>
          <p:cNvPr id="77" name="Text 74"/>
          <p:cNvSpPr/>
          <p:nvPr/>
        </p:nvSpPr>
        <p:spPr>
          <a:xfrm>
            <a:off x="4064459" y="4487307"/>
            <a:ext cx="110370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and then using</a:t>
            </a:r>
            <a:endParaRPr lang="en-US" sz="1050" dirty="0"/>
          </a:p>
        </p:txBody>
      </p:sp>
      <p:sp>
        <p:nvSpPr>
          <p:cNvPr id="78" name="Text 75"/>
          <p:cNvSpPr/>
          <p:nvPr/>
        </p:nvSpPr>
        <p:spPr>
          <a:xfrm>
            <a:off x="5168168" y="4464090"/>
            <a:ext cx="10537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X</a:t>
            </a:r>
            <a:endParaRPr lang="en-US" sz="1300" dirty="0"/>
          </a:p>
        </p:txBody>
      </p:sp>
      <p:sp>
        <p:nvSpPr>
          <p:cNvPr id="79" name="Text 76"/>
          <p:cNvSpPr/>
          <p:nvPr/>
        </p:nvSpPr>
        <p:spPr>
          <a:xfrm>
            <a:off x="514350" y="4715907"/>
            <a:ext cx="253781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 adjust for the confounded effect of</a:t>
            </a:r>
            <a:endParaRPr lang="en-US" sz="1050" dirty="0"/>
          </a:p>
        </p:txBody>
      </p:sp>
      <p:sp>
        <p:nvSpPr>
          <p:cNvPr id="80" name="Text 77"/>
          <p:cNvSpPr/>
          <p:nvPr/>
        </p:nvSpPr>
        <p:spPr>
          <a:xfrm>
            <a:off x="3052167" y="4692690"/>
            <a:ext cx="14287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M</a:t>
            </a:r>
            <a:endParaRPr lang="en-US" sz="1300" dirty="0"/>
          </a:p>
        </p:txBody>
      </p:sp>
      <p:sp>
        <p:nvSpPr>
          <p:cNvPr id="81" name="Text 78"/>
          <p:cNvSpPr/>
          <p:nvPr/>
        </p:nvSpPr>
        <p:spPr>
          <a:xfrm>
            <a:off x="3243151" y="4756984"/>
            <a:ext cx="172873" cy="4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→</a:t>
            </a:r>
            <a:endParaRPr lang="en-US" sz="1300" dirty="0"/>
          </a:p>
        </p:txBody>
      </p:sp>
      <p:sp>
        <p:nvSpPr>
          <p:cNvPr id="82" name="Text 79"/>
          <p:cNvSpPr/>
          <p:nvPr/>
        </p:nvSpPr>
        <p:spPr>
          <a:xfrm>
            <a:off x="3464133" y="4692690"/>
            <a:ext cx="9644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Y</a:t>
            </a:r>
            <a:endParaRPr lang="en-US" sz="1300" dirty="0"/>
          </a:p>
        </p:txBody>
      </p:sp>
      <p:sp>
        <p:nvSpPr>
          <p:cNvPr id="83" name="Text 80"/>
          <p:cNvSpPr/>
          <p:nvPr/>
        </p:nvSpPr>
        <p:spPr>
          <a:xfrm>
            <a:off x="3634718" y="4715907"/>
            <a:ext cx="3750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050" dirty="0"/>
          </a:p>
        </p:txBody>
      </p:sp>
      <p:sp>
        <p:nvSpPr>
          <p:cNvPr id="84" name="Shape 81"/>
          <p:cNvSpPr/>
          <p:nvPr/>
        </p:nvSpPr>
        <p:spPr>
          <a:xfrm>
            <a:off x="5712209" y="1543050"/>
            <a:ext cx="3003166" cy="2143125"/>
          </a:xfrm>
          <a:prstGeom prst="rect">
            <a:avLst/>
          </a:prstGeom>
          <a:solidFill>
            <a:srgbClr val="F9FBFD"/>
          </a:solidFill>
          <a:ln w="9144">
            <a:solidFill>
              <a:srgbClr val="BDC3C7"/>
            </a:solidFill>
            <a:prstDash val="solid"/>
          </a:ln>
        </p:spPr>
      </p:sp>
      <p:pic>
        <p:nvPicPr>
          <p:cNvPr id="8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2209" y="1787891"/>
            <a:ext cx="3003166" cy="1653415"/>
          </a:xfrm>
          <a:prstGeom prst="rect">
            <a:avLst/>
          </a:prstGeom>
        </p:spPr>
      </p:pic>
      <p:sp>
        <p:nvSpPr>
          <p:cNvPr id="86" name="Text 82"/>
          <p:cNvSpPr/>
          <p:nvPr/>
        </p:nvSpPr>
        <p:spPr>
          <a:xfrm>
            <a:off x="5778568" y="3816548"/>
            <a:ext cx="193059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i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unobserved confounder</a:t>
            </a:r>
            <a:endParaRPr lang="en-US" sz="1050" dirty="0"/>
          </a:p>
        </p:txBody>
      </p:sp>
      <p:sp>
        <p:nvSpPr>
          <p:cNvPr id="87" name="Text 83"/>
          <p:cNvSpPr/>
          <p:nvPr/>
        </p:nvSpPr>
        <p:spPr>
          <a:xfrm>
            <a:off x="7709167" y="3793331"/>
            <a:ext cx="12501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U</a:t>
            </a:r>
            <a:endParaRPr lang="en-US" sz="1300" dirty="0"/>
          </a:p>
        </p:txBody>
      </p:sp>
      <p:sp>
        <p:nvSpPr>
          <p:cNvPr id="88" name="Text 84"/>
          <p:cNvSpPr/>
          <p:nvPr/>
        </p:nvSpPr>
        <p:spPr>
          <a:xfrm>
            <a:off x="7841745" y="3816548"/>
            <a:ext cx="80724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i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(red) blocks</a:t>
            </a:r>
            <a:endParaRPr lang="en-US" sz="1050" dirty="0"/>
          </a:p>
        </p:txBody>
      </p:sp>
      <p:sp>
        <p:nvSpPr>
          <p:cNvPr id="89" name="Text 85"/>
          <p:cNvSpPr/>
          <p:nvPr/>
        </p:nvSpPr>
        <p:spPr>
          <a:xfrm>
            <a:off x="5887064" y="4045148"/>
            <a:ext cx="247173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i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backdoor path, but the mediator</a:t>
            </a:r>
            <a:endParaRPr lang="en-US" sz="1050" dirty="0"/>
          </a:p>
        </p:txBody>
      </p:sp>
      <p:sp>
        <p:nvSpPr>
          <p:cNvPr id="90" name="Text 86"/>
          <p:cNvSpPr/>
          <p:nvPr/>
        </p:nvSpPr>
        <p:spPr>
          <a:xfrm>
            <a:off x="8358801" y="4021931"/>
            <a:ext cx="14287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ath" pitchFamily="34" charset="0"/>
                <a:ea typeface="math" pitchFamily="34" charset="-122"/>
                <a:cs typeface="math" pitchFamily="34" charset="-120"/>
              </a:rPr>
              <a:t>M</a:t>
            </a:r>
            <a:endParaRPr lang="en-US" sz="1300" dirty="0"/>
          </a:p>
        </p:txBody>
      </p:sp>
      <p:sp>
        <p:nvSpPr>
          <p:cNvPr id="91" name="Text 87"/>
          <p:cNvSpPr/>
          <p:nvPr/>
        </p:nvSpPr>
        <p:spPr>
          <a:xfrm>
            <a:off x="6334218" y="4273748"/>
            <a:ext cx="175914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i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provides a frontdoor path.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00125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57263"/>
            <a:ext cx="9144000" cy="42863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99145"/>
            <a:ext cx="4805958" cy="401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Summary of Do-Calculus Rules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1000125" y="1143000"/>
            <a:ext cx="7143750" cy="891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Pearl's do-calculus provides a </a:t>
            </a:r>
            <a:r>
              <a:rPr lang="en-US" sz="1300" dirty="0">
                <a:solidFill>
                  <a:srgbClr val="0A2240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complete set of rules</a:t>
            </a: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transforming causal </a:t>
            </a: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quantities (expressions with the do-operator) into observational quantities </a:t>
            </a: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(expressions without the do-operator).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000125" y="2148790"/>
            <a:ext cx="7143750" cy="1857375"/>
          </a:xfrm>
          <a:prstGeom prst="rect">
            <a:avLst/>
          </a:prstGeom>
          <a:solidFill>
            <a:srgbClr val="F9FBFD"/>
          </a:solidFill>
          <a:ln w="9144">
            <a:solidFill>
              <a:srgbClr val="BDC3C7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" y="2205940"/>
            <a:ext cx="7029450" cy="174307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00125" y="4120465"/>
            <a:ext cx="7143750" cy="385763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" name="Shape 6"/>
          <p:cNvSpPr/>
          <p:nvPr/>
        </p:nvSpPr>
        <p:spPr>
          <a:xfrm>
            <a:off x="1000125" y="4120465"/>
            <a:ext cx="28575" cy="385763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1" name="Text 7"/>
          <p:cNvSpPr/>
          <p:nvPr/>
        </p:nvSpPr>
        <p:spPr>
          <a:xfrm>
            <a:off x="1143000" y="4206190"/>
            <a:ext cx="68580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0A2240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If an effect is identifiable, it can be derived using a sequence of these three rules.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256170"/>
            <a:ext cx="6858000" cy="4631131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1143000" y="256170"/>
            <a:ext cx="57150" cy="4631131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2"/>
          <p:cNvSpPr/>
          <p:nvPr/>
        </p:nvSpPr>
        <p:spPr>
          <a:xfrm>
            <a:off x="1428750" y="684795"/>
            <a:ext cx="6286500" cy="637217"/>
          </a:xfrm>
          <a:prstGeom prst="rect">
            <a:avLst/>
          </a:prstGeom>
          <a:noFill/>
          <a:ln/>
        </p:spPr>
        <p:txBody>
          <a:bodyPr wrap="none" lIns="0" tIns="0" rIns="0" bIns="170053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Lab Exercises &amp; Next Steps</a:t>
            </a:r>
            <a:endParaRPr lang="en-US" sz="2850" dirty="0"/>
          </a:p>
        </p:txBody>
      </p:sp>
      <p:sp>
        <p:nvSpPr>
          <p:cNvPr id="6" name="Text 3"/>
          <p:cNvSpPr/>
          <p:nvPr/>
        </p:nvSpPr>
        <p:spPr>
          <a:xfrm>
            <a:off x="1428750" y="1607762"/>
            <a:ext cx="6286500" cy="320018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</a:t>
            </a:r>
            <a:r>
              <a:rPr lang="en-US" sz="1400" dirty="0">
                <a:solidFill>
                  <a:srgbClr val="D4AF37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DS6410_Lab_Graphical_Models.Rmd</a:t>
            </a: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 RStudio.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28750" y="1607762"/>
            <a:ext cx="103556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4AF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428750" y="2042080"/>
            <a:ext cx="103556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4AF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714500" y="2065297"/>
            <a:ext cx="398978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Ensure all required packages are installed (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704284" y="2065297"/>
            <a:ext cx="72009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glasso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24380" y="2065297"/>
            <a:ext cx="10358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527964" y="2065297"/>
            <a:ext cx="60007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pcalg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128039" y="2065297"/>
            <a:ext cx="51792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714500" y="2385315"/>
            <a:ext cx="84011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dagitty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554616" y="2385315"/>
            <a:ext cx="546497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etc.).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428750" y="2796415"/>
            <a:ext cx="6286500" cy="320018"/>
          </a:xfrm>
          <a:prstGeom prst="rect">
            <a:avLst/>
          </a:prstGeom>
          <a:noFill/>
          <a:ln/>
        </p:spPr>
        <p:txBody>
          <a:bodyPr wrap="none" lIns="34023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 through Parts 1, 2, and 3 sequentially.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28750" y="3230733"/>
            <a:ext cx="6286500" cy="960053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Challenge:</a:t>
            </a: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 Part 3, try adding an unobserved confounder to the backdoor DAG. Observe how the adjustment set changes, and when the frontdoor criterion becomes necessary.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428750" y="4333661"/>
            <a:ext cx="6286500" cy="425053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Questions? Raise your hand or ask in the chat.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428750" y="2796415"/>
            <a:ext cx="103556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4AF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428750" y="3230733"/>
            <a:ext cx="103556" cy="2742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4AF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■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2026-04-22T01:29:19Z</dcterms:created>
  <dcterms:modified xsi:type="dcterms:W3CDTF">2026-04-22T01:29:19Z</dcterms:modified>
</cp:coreProperties>
</file>